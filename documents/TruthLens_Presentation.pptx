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67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00400"/>
            <a:ext cx="8434745" cy="26161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Book Antiqua" panose="02040602050305030304" pitchFamily="18" charset="0"/>
              </a:rPr>
              <a:t>TRUTHLENS</a:t>
            </a:r>
          </a:p>
          <a:p>
            <a:pPr>
              <a:defRPr sz="2800">
                <a:solidFill>
                  <a:srgbClr val="F0EDE8"/>
                </a:solidFill>
                <a:latin typeface="Arial"/>
              </a:defRPr>
            </a:pPr>
            <a:r>
              <a:rPr dirty="0">
                <a:latin typeface="Book Antiqua" panose="02040602050305030304" pitchFamily="18" charset="0"/>
              </a:rPr>
              <a:t>AI-POWERED FAKE NEWS DETECTION SYSTEM</a:t>
            </a:r>
          </a:p>
          <a:p>
            <a:br>
              <a:rPr dirty="0"/>
            </a:br>
            <a:r>
              <a:rPr dirty="0">
                <a:latin typeface="Book Antiqua" panose="02040602050305030304" pitchFamily="18" charset="0"/>
              </a:rPr>
              <a:t>Prepared by Team: </a:t>
            </a:r>
            <a:r>
              <a:rPr dirty="0" err="1">
                <a:latin typeface="Book Antiqua" panose="02040602050305030304" pitchFamily="18" charset="0"/>
              </a:rPr>
              <a:t>Truthlencers</a:t>
            </a:r>
            <a:br>
              <a:rPr dirty="0">
                <a:latin typeface="Book Antiqua" panose="02040602050305030304" pitchFamily="18" charset="0"/>
              </a:rPr>
            </a:br>
            <a:r>
              <a:rPr dirty="0">
                <a:latin typeface="Book Antiqua" panose="02040602050305030304" pitchFamily="18" charset="0"/>
              </a:rPr>
              <a:t>(Ayush Deval &amp; Team)</a:t>
            </a:r>
            <a:br>
              <a:rPr dirty="0">
                <a:latin typeface="Book Antiqua" panose="02040602050305030304" pitchFamily="18" charset="0"/>
              </a:rPr>
            </a:br>
            <a:r>
              <a:rPr dirty="0" err="1">
                <a:latin typeface="Book Antiqua" panose="02040602050305030304" pitchFamily="18" charset="0"/>
              </a:rPr>
              <a:t>B.Tech</a:t>
            </a:r>
            <a:r>
              <a:rPr dirty="0">
                <a:latin typeface="Book Antiqua" panose="02040602050305030304" pitchFamily="18" charset="0"/>
              </a:rPr>
              <a:t> CSE (3rd Year) | Group Project</a:t>
            </a:r>
          </a:p>
        </p:txBody>
      </p:sp>
      <p:sp>
        <p:nvSpPr>
          <p:cNvPr id="3" name="Oval 2"/>
          <p:cNvSpPr/>
          <p:nvPr/>
        </p:nvSpPr>
        <p:spPr>
          <a:xfrm>
            <a:off x="5090007" y="640080"/>
            <a:ext cx="2011680" cy="2011680"/>
          </a:xfrm>
          <a:prstGeom prst="ellipse">
            <a:avLst/>
          </a:prstGeom>
          <a:noFill/>
          <a:ln w="19050">
            <a:solidFill>
              <a:srgbClr val="F0E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10047" y="960120"/>
            <a:ext cx="1371600" cy="1371600"/>
          </a:xfrm>
          <a:prstGeom prst="ellipse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84367" y="1234440"/>
            <a:ext cx="822960" cy="822960"/>
          </a:xfrm>
          <a:prstGeom prst="ellipse">
            <a:avLst/>
          </a:prstGeom>
          <a:solidFill>
            <a:srgbClr val="29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821527" y="13716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101687" y="1097280"/>
            <a:ext cx="228600" cy="228600"/>
          </a:xfrm>
          <a:prstGeom prst="ellipse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07127" y="1828800"/>
            <a:ext cx="137160" cy="137160"/>
          </a:xfrm>
          <a:prstGeom prst="ellipse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27367" y="2651760"/>
            <a:ext cx="182880" cy="182880"/>
          </a:xfrm>
          <a:prstGeom prst="ellipse">
            <a:avLst/>
          </a:prstGeom>
          <a:solidFill>
            <a:srgbClr val="F0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24507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dirty="0">
                <a:latin typeface="Book Antiqua" panose="02040602050305030304" pitchFamily="18" charset="0"/>
              </a:rPr>
              <a:t>INDEX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852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1. </a:t>
            </a:r>
            <a:r>
              <a:rPr lang="en-IN" dirty="0">
                <a:latin typeface="Bell MT" panose="02020503060305020303" pitchFamily="18" charset="0"/>
              </a:rPr>
              <a:t>The </a:t>
            </a:r>
            <a:r>
              <a:rPr lang="en-IN" dirty="0" err="1">
                <a:latin typeface="Bell MT" panose="02020503060305020303" pitchFamily="18" charset="0"/>
              </a:rPr>
              <a:t>Truthlencers</a:t>
            </a:r>
            <a:r>
              <a:rPr lang="en-IN" dirty="0">
                <a:latin typeface="Bell MT" panose="02020503060305020303" pitchFamily="18" charset="0"/>
              </a:rPr>
              <a:t> Team</a:t>
            </a:r>
            <a:endParaRPr lang="en-US" dirty="0">
              <a:latin typeface="Bell MT" panose="02020503060305020303" pitchFamily="18" charset="0"/>
            </a:endParaRPr>
          </a:p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2. </a:t>
            </a:r>
            <a:r>
              <a:rPr lang="en-IN" dirty="0">
                <a:latin typeface="Bell MT" panose="02020503060305020303" pitchFamily="18" charset="0"/>
              </a:rPr>
              <a:t>Introduction &amp; Overview</a:t>
            </a:r>
            <a:endParaRPr dirty="0">
              <a:latin typeface="Bell MT" panose="02020503060305020303" pitchFamily="18" charset="0"/>
            </a:endParaRPr>
          </a:p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3.</a:t>
            </a:r>
            <a:r>
              <a:rPr lang="en-US" dirty="0">
                <a:latin typeface="Bell MT" panose="02020503060305020303" pitchFamily="18" charset="0"/>
              </a:rPr>
              <a:t> </a:t>
            </a:r>
            <a:r>
              <a:rPr lang="en-IN" dirty="0">
                <a:latin typeface="Bell MT" panose="02020503060305020303" pitchFamily="18" charset="0"/>
              </a:rPr>
              <a:t>System Architecture</a:t>
            </a:r>
            <a:endParaRPr dirty="0">
              <a:latin typeface="Bell MT" panose="02020503060305020303" pitchFamily="18" charset="0"/>
            </a:endParaRPr>
          </a:p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4. </a:t>
            </a:r>
            <a:r>
              <a:rPr lang="en-IN" dirty="0">
                <a:latin typeface="Bell MT" panose="02020503060305020303" pitchFamily="18" charset="0"/>
              </a:rPr>
              <a:t>System Workflow &amp; Data Flow</a:t>
            </a:r>
            <a:endParaRPr dirty="0">
              <a:latin typeface="Bell MT" panose="02020503060305020303" pitchFamily="18" charset="0"/>
            </a:endParaRPr>
          </a:p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5. </a:t>
            </a:r>
            <a:r>
              <a:rPr lang="en-IN" dirty="0">
                <a:latin typeface="Bell MT" panose="02020503060305020303" pitchFamily="18" charset="0"/>
              </a:rPr>
              <a:t>Dataset &amp; Performance Evaluation</a:t>
            </a:r>
            <a:endParaRPr dirty="0">
              <a:latin typeface="Bell MT" panose="02020503060305020303" pitchFamily="18" charset="0"/>
            </a:endParaRPr>
          </a:p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6. </a:t>
            </a:r>
            <a:r>
              <a:rPr lang="en-IN" dirty="0">
                <a:latin typeface="Bell MT" panose="02020503060305020303" pitchFamily="18" charset="0"/>
              </a:rPr>
              <a:t>Explainable AI Layer</a:t>
            </a:r>
            <a:endParaRPr lang="en-US" dirty="0">
              <a:latin typeface="Bell MT" panose="02020503060305020303" pitchFamily="18" charset="0"/>
            </a:endParaRPr>
          </a:p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7. </a:t>
            </a:r>
            <a:r>
              <a:rPr lang="en-IN" dirty="0">
                <a:latin typeface="Bell MT" panose="02020503060305020303" pitchFamily="18" charset="0"/>
              </a:rPr>
              <a:t>Full-Stack Technology Profile</a:t>
            </a:r>
          </a:p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8. </a:t>
            </a:r>
            <a:r>
              <a:rPr lang="en-IN" dirty="0">
                <a:latin typeface="Bell MT" panose="02020503060305020303" pitchFamily="18" charset="0"/>
              </a:rPr>
              <a:t>Project Achievements</a:t>
            </a:r>
          </a:p>
          <a:p>
            <a:pPr>
              <a:spcAft>
                <a:spcPts val="1400"/>
              </a:spcAft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9. </a:t>
            </a:r>
            <a:r>
              <a:rPr lang="en-IN" dirty="0">
                <a:latin typeface="Bell MT" panose="02020503060305020303" pitchFamily="18" charset="0"/>
              </a:rPr>
              <a:t>Future Enhancements &amp; Scalability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1352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1</a:t>
            </a:r>
            <a:r>
              <a:rPr dirty="0">
                <a:latin typeface="Book Antiqua" panose="02040602050305030304" pitchFamily="18" charset="0"/>
              </a:rPr>
              <a:t>. THE TRUTHLENCERS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272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ook Antiqua" panose="02040602050305030304" pitchFamily="18" charset="0"/>
              </a:rPr>
              <a:t>Project Mentor: Pawan Sharma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976445"/>
              </p:ext>
            </p:extLst>
          </p:nvPr>
        </p:nvGraphicFramePr>
        <p:xfrm>
          <a:off x="73152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Student ID</a:t>
                      </a:r>
                    </a:p>
                  </a:txBody>
                  <a:tcPr>
                    <a:solidFill>
                      <a:srgbClr val="6667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Team Member Name</a:t>
                      </a:r>
                    </a:p>
                  </a:txBody>
                  <a:tcPr>
                    <a:solidFill>
                      <a:srgbClr val="6667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Bell MT" panose="02020503060305020303" pitchFamily="18" charset="0"/>
                        </a:rPr>
                        <a:t>BCS2023305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Ayush Deval (Leader)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LBCS2024010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ATA WARIS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LBCS2024019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SHIVANGI KATIYAR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LBCS2024020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MOHD MAROOF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LBCS2024022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AMAN AFTAB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LBCS2024023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VIKAS VERMA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LBCS2024024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Ashwani shakya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BCS2023338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ARFAT AKHLAQ KHAN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BCS2023013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NIKHIL RAJ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>
                          <a:latin typeface="Bell MT" panose="02020503060305020303" pitchFamily="18" charset="0"/>
                        </a:rPr>
                        <a:t>LBCS2024027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9282D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Bell MT" panose="02020503060305020303" pitchFamily="18" charset="0"/>
                        </a:rPr>
                        <a:t>Vaibhav Bhardwaj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8277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2</a:t>
            </a:r>
            <a:r>
              <a:rPr dirty="0">
                <a:latin typeface="Book Antiqua" panose="02040602050305030304" pitchFamily="18" charset="0"/>
              </a:rPr>
              <a:t>. INTRODUCTION &amp;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806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The Challenge: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The rapid proliferation of digital misinformation requires robust, real-time classification beyond human capability.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The Solution: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</a:t>
            </a:r>
            <a:r>
              <a:rPr dirty="0" err="1">
                <a:latin typeface="Bell MT" panose="02020503060305020303" pitchFamily="18" charset="0"/>
              </a:rPr>
              <a:t>TruthLens</a:t>
            </a:r>
            <a:r>
              <a:rPr dirty="0">
                <a:latin typeface="Bell MT" panose="02020503060305020303" pitchFamily="18" charset="0"/>
              </a:rPr>
              <a:t> is a production-grade, full-stack web application designed to identify, classify, and explain fabricated news content.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Core Value Proposition: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Moves beyond binary classification by providing confidence scores and context-aware, AI-generated explanations for every verdict.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System Scope: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Engineered from the ground up by the </a:t>
            </a:r>
            <a:r>
              <a:rPr dirty="0" err="1">
                <a:latin typeface="Bell MT" panose="02020503060305020303" pitchFamily="18" charset="0"/>
              </a:rPr>
              <a:t>Truthlencers</a:t>
            </a:r>
            <a:r>
              <a:rPr dirty="0">
                <a:latin typeface="Bell MT" panose="02020503060305020303" pitchFamily="18" charset="0"/>
              </a:rPr>
              <a:t> team, covering data preprocessing, model training, backend API design, and frontend deployment.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48126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3</a:t>
            </a:r>
            <a:r>
              <a:rPr dirty="0">
                <a:latin typeface="Book Antiqua" panose="02040602050305030304" pitchFamily="18" charset="0"/>
              </a:rPr>
              <a:t>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84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A multi-layered approach ensuring high accuracy and contextual reliability: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Input &amp; NLP Pipeline: Sanitizes up to 10,000 characters by removing URLs, HTML, punctuation, and stop words.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Inference Engine: Routes queries to user-selected ML models (LR, LSTM, or BERT) for statistical evaluation.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Explainable AI Layer: Simultaneously queries the </a:t>
            </a:r>
            <a:r>
              <a:rPr dirty="0" err="1">
                <a:latin typeface="Bell MT" panose="02020503060305020303" pitchFamily="18" charset="0"/>
              </a:rPr>
              <a:t>Groq</a:t>
            </a:r>
            <a:r>
              <a:rPr dirty="0">
                <a:latin typeface="Bell MT" panose="02020503060305020303" pitchFamily="18" charset="0"/>
              </a:rPr>
              <a:t> </a:t>
            </a:r>
            <a:r>
              <a:rPr dirty="0" err="1">
                <a:latin typeface="Bell MT" panose="02020503060305020303" pitchFamily="18" charset="0"/>
              </a:rPr>
              <a:t>LLaMA</a:t>
            </a:r>
            <a:r>
              <a:rPr dirty="0">
                <a:latin typeface="Bell MT" panose="02020503060305020303" pitchFamily="18" charset="0"/>
              </a:rPr>
              <a:t> 3 70B API to evaluate factual validity.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Combined Verdict Logic: Merges statistical ML predictions with semantic LLM analysis. </a:t>
            </a:r>
            <a:r>
              <a:rPr dirty="0" err="1">
                <a:latin typeface="Bell MT" panose="02020503060305020303" pitchFamily="18" charset="0"/>
              </a:rPr>
              <a:t>Groq</a:t>
            </a:r>
            <a:r>
              <a:rPr dirty="0">
                <a:latin typeface="Bell MT" panose="02020503060305020303" pitchFamily="18" charset="0"/>
              </a:rPr>
              <a:t> layer handles disagreement overrides.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Persistence: Results and metadata securely logged in MongoDB Atlas.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358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4</a:t>
            </a:r>
            <a:r>
              <a:rPr dirty="0">
                <a:latin typeface="Book Antiqua" panose="02040602050305030304" pitchFamily="18" charset="0"/>
              </a:rPr>
              <a:t>. SYSTEM WORKFLOW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65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Step-by-Step Data Execution Path: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Step 1: User Input &amp; Auth: User logs in securely (JWT) and submits news text.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Step 2: Text Preprocessing: NLTK pipeline sanitizes and lemmatizes the data.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Step 3: Parallel Processing:</a:t>
            </a:r>
          </a:p>
          <a:p>
            <a:pPr lvl="2">
              <a:spcAft>
                <a:spcPts val="1000"/>
              </a:spcAft>
              <a:defRPr sz="18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○ Data is sent to the selected ML Model for statistical evaluation.</a:t>
            </a:r>
          </a:p>
          <a:p>
            <a:pPr lvl="2">
              <a:spcAft>
                <a:spcPts val="1000"/>
              </a:spcAft>
              <a:defRPr sz="18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○ Data is sent to </a:t>
            </a:r>
            <a:r>
              <a:rPr dirty="0" err="1">
                <a:latin typeface="Bell MT" panose="02020503060305020303" pitchFamily="18" charset="0"/>
              </a:rPr>
              <a:t>Groq</a:t>
            </a:r>
            <a:r>
              <a:rPr dirty="0">
                <a:latin typeface="Bell MT" panose="02020503060305020303" pitchFamily="18" charset="0"/>
              </a:rPr>
              <a:t> </a:t>
            </a:r>
            <a:r>
              <a:rPr dirty="0" err="1">
                <a:latin typeface="Bell MT" panose="02020503060305020303" pitchFamily="18" charset="0"/>
              </a:rPr>
              <a:t>LLaMA</a:t>
            </a:r>
            <a:r>
              <a:rPr dirty="0">
                <a:latin typeface="Bell MT" panose="02020503060305020303" pitchFamily="18" charset="0"/>
              </a:rPr>
              <a:t> 3 for semantic/factual evaluation.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Step 4: Combined Verdict Logic: Algorithmic comparison resolves any disagreements (</a:t>
            </a:r>
            <a:r>
              <a:rPr dirty="0" err="1">
                <a:latin typeface="Bell MT" panose="02020503060305020303" pitchFamily="18" charset="0"/>
              </a:rPr>
              <a:t>Groq</a:t>
            </a:r>
            <a:r>
              <a:rPr dirty="0">
                <a:latin typeface="Bell MT" panose="02020503060305020303" pitchFamily="18" charset="0"/>
              </a:rPr>
              <a:t> overrides ML if necessary).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Step 5: Database Logging: Search history and metadata are permanently saved to MongoDB.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Step 6: Real-time UI Update: Results, confidence metrics, and explanation displayed.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105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5</a:t>
            </a:r>
            <a:r>
              <a:rPr dirty="0">
                <a:latin typeface="Book Antiqua" panose="02040602050305030304" pitchFamily="18" charset="0"/>
              </a:rPr>
              <a:t>. DATASET &amp;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821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ISOT Fake News Dataset (University of Victoria):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Composition: 44,919 articles, perfectly balanced (~50% Real / ~50% Fake).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Ground Truth: Compares genuine Reuters news against known unreliable sources flagged by fact-checkers.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Performance Metrics &amp; Model Loading: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Models are cached in RAM upon startup to minimize latency.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Logistic Regression: ~92% Accuracy (Under 50ms inference).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LSTM Deep Learning Model: ~99.86% Accuracy (~200ms inference).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</a:t>
            </a:r>
            <a:r>
              <a:rPr dirty="0" err="1">
                <a:latin typeface="Bell MT" panose="02020503060305020303" pitchFamily="18" charset="0"/>
              </a:rPr>
              <a:t>DistilBERT</a:t>
            </a:r>
            <a:r>
              <a:rPr dirty="0">
                <a:latin typeface="Bell MT" panose="02020503060305020303" pitchFamily="18" charset="0"/>
              </a:rPr>
              <a:t> Transformer: ~99.96% Accuracy (~2s inference).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28890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6</a:t>
            </a:r>
            <a:r>
              <a:rPr dirty="0">
                <a:latin typeface="Book Antiqua" panose="02040602050305030304" pitchFamily="18" charset="0"/>
              </a:rPr>
              <a:t>. EXPLAINABLE AI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9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Contextual Understanding: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Uses the </a:t>
            </a:r>
            <a:r>
              <a:rPr dirty="0" err="1">
                <a:latin typeface="Bell MT" panose="02020503060305020303" pitchFamily="18" charset="0"/>
              </a:rPr>
              <a:t>Groq</a:t>
            </a:r>
            <a:r>
              <a:rPr dirty="0">
                <a:latin typeface="Bell MT" panose="02020503060305020303" pitchFamily="18" charset="0"/>
              </a:rPr>
              <a:t> </a:t>
            </a:r>
            <a:r>
              <a:rPr dirty="0" err="1">
                <a:latin typeface="Bell MT" panose="02020503060305020303" pitchFamily="18" charset="0"/>
              </a:rPr>
              <a:t>LLaMA</a:t>
            </a:r>
            <a:r>
              <a:rPr dirty="0">
                <a:latin typeface="Bell MT" panose="02020503060305020303" pitchFamily="18" charset="0"/>
              </a:rPr>
              <a:t> 3 70B API running at a low temperature (0.1) for factual consistency.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Plain-English Explanations: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Returns a concise 2-3 sentence explanation alongside its confidence rating.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Handling Disagreements: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If the ML model and the LLM disagree, the system prioritizes the </a:t>
            </a:r>
            <a:r>
              <a:rPr dirty="0" err="1">
                <a:latin typeface="Bell MT" panose="02020503060305020303" pitchFamily="18" charset="0"/>
              </a:rPr>
              <a:t>Groq</a:t>
            </a:r>
            <a:r>
              <a:rPr dirty="0">
                <a:latin typeface="Bell MT" panose="02020503060305020303" pitchFamily="18" charset="0"/>
              </a:rPr>
              <a:t> LLM's vast knowledge base to prevent false positives.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Resilience: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Operates with a robust fallback mechanism—if the </a:t>
            </a:r>
            <a:r>
              <a:rPr dirty="0" err="1">
                <a:latin typeface="Bell MT" panose="02020503060305020303" pitchFamily="18" charset="0"/>
              </a:rPr>
              <a:t>Groq</a:t>
            </a:r>
            <a:r>
              <a:rPr dirty="0">
                <a:latin typeface="Bell MT" panose="02020503060305020303" pitchFamily="18" charset="0"/>
              </a:rPr>
              <a:t> API fails, </a:t>
            </a:r>
            <a:r>
              <a:rPr dirty="0" err="1">
                <a:latin typeface="Bell MT" panose="02020503060305020303" pitchFamily="18" charset="0"/>
              </a:rPr>
              <a:t>TruthLens</a:t>
            </a:r>
            <a:r>
              <a:rPr dirty="0">
                <a:latin typeface="Bell MT" panose="02020503060305020303" pitchFamily="18" charset="0"/>
              </a:rPr>
              <a:t> reverts to standard ML inference.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28972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7</a:t>
            </a:r>
            <a:r>
              <a:rPr dirty="0">
                <a:latin typeface="Book Antiqua" panose="02040602050305030304" pitchFamily="18" charset="0"/>
              </a:rPr>
              <a:t>. FULL-STACK TECHNOLOGY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Backend &amp; </a:t>
            </a:r>
            <a:r>
              <a:rPr dirty="0" err="1">
                <a:latin typeface="Bell MT" panose="02020503060305020303" pitchFamily="18" charset="0"/>
              </a:rPr>
              <a:t>MLOps</a:t>
            </a:r>
            <a:r>
              <a:rPr dirty="0">
                <a:latin typeface="Bell MT" panose="02020503060305020303" pitchFamily="18" charset="0"/>
              </a:rPr>
              <a:t>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Python 3.1</a:t>
            </a:r>
            <a:r>
              <a:rPr lang="en-US" dirty="0">
                <a:latin typeface="Bell MT" panose="02020503060305020303" pitchFamily="18" charset="0"/>
              </a:rPr>
              <a:t>2</a:t>
            </a:r>
            <a:r>
              <a:rPr dirty="0">
                <a:latin typeface="Bell MT" panose="02020503060305020303" pitchFamily="18" charset="0"/>
              </a:rPr>
              <a:t>+, Flask REST API, JWT Authentication, Docker SDK, Hugging Face Spaces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Frontend Interface: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HTML5, CSS3, ES6+ JavaScript, Responsive UI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AI &amp; Data Science: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Scikit-learn, TensorFlow/</a:t>
            </a:r>
            <a:r>
              <a:rPr dirty="0" err="1">
                <a:latin typeface="Bell MT" panose="02020503060305020303" pitchFamily="18" charset="0"/>
              </a:rPr>
              <a:t>Keras</a:t>
            </a:r>
            <a:r>
              <a:rPr dirty="0">
                <a:latin typeface="Bell MT" panose="02020503060305020303" pitchFamily="18" charset="0"/>
              </a:rPr>
              <a:t>, Hugging Face Transformers, </a:t>
            </a:r>
            <a:r>
              <a:rPr dirty="0" err="1">
                <a:latin typeface="Bell MT" panose="02020503060305020303" pitchFamily="18" charset="0"/>
              </a:rPr>
              <a:t>PyTorch</a:t>
            </a:r>
            <a:r>
              <a:rPr dirty="0">
                <a:latin typeface="Bell MT" panose="02020503060305020303" pitchFamily="18" charset="0"/>
              </a:rPr>
              <a:t>, NLTK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Database: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MongoDB Atlas (Cloud NoSQL), </a:t>
            </a:r>
            <a:r>
              <a:rPr dirty="0" err="1">
                <a:latin typeface="Bell MT" panose="02020503060305020303" pitchFamily="18" charset="0"/>
              </a:rPr>
              <a:t>PyMongo</a:t>
            </a:r>
            <a:r>
              <a:rPr dirty="0">
                <a:latin typeface="Bell MT" panose="02020503060305020303" pitchFamily="18" charset="0"/>
              </a:rPr>
              <a:t> Driver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67633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8</a:t>
            </a:r>
            <a:r>
              <a:rPr dirty="0">
                <a:latin typeface="Book Antiqua" panose="02040602050305030304" pitchFamily="18" charset="0"/>
              </a:rPr>
              <a:t>. PROJECT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54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Operational Success: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Successfully architected and deployed a highly operational NLP system.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Maintained total end-to-end response times under 5 seconds for all queries.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Security &amp; Persistence: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Built a secure environment featuring stateless JWT authentication.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Implemented robust MongoDB integration for tracking user history and statistics.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Cloud Deployment: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Successfully containerized using Docker and deployed globally on Hugging Face Spaces.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6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8494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67AB"/>
                </a:solidFill>
                <a:latin typeface="Arial"/>
              </a:defRPr>
            </a:pPr>
            <a:r>
              <a:rPr lang="en-US" dirty="0">
                <a:latin typeface="Book Antiqua" panose="02040602050305030304" pitchFamily="18" charset="0"/>
              </a:rPr>
              <a:t>9</a:t>
            </a:r>
            <a:r>
              <a:rPr dirty="0">
                <a:latin typeface="Book Antiqua" panose="02040602050305030304" pitchFamily="18" charset="0"/>
              </a:rPr>
              <a:t>. FUTURE ENHANCEMENTS &amp;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Explainable AI (XAI):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Integrating LIME or SHAP methodologies to provide deep, feature-level decision transparency for the ML models.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Multilingual Support: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Expanding the NLP pipeline to process Hindi and other regional Indian languages.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Live Data Integration: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Integration with NewsAPI.org for automated, daily news feed analysis.</a:t>
            </a:r>
          </a:p>
          <a:p>
            <a:pPr>
              <a:spcAft>
                <a:spcPts val="1000"/>
              </a:spcAft>
              <a:defRPr sz="2200" b="1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Extended User Features: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Adding social sharing capabilities for verified news results.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Developing an Admin Dashboard to monitor system analytics.</a:t>
            </a:r>
          </a:p>
          <a:p>
            <a:pPr lvl="1">
              <a:spcAft>
                <a:spcPts val="1000"/>
              </a:spcAft>
              <a:defRPr sz="2000">
                <a:solidFill>
                  <a:srgbClr val="29282D"/>
                </a:solidFill>
                <a:latin typeface="Arial"/>
              </a:defRPr>
            </a:pPr>
            <a:r>
              <a:rPr dirty="0">
                <a:latin typeface="Bell MT" panose="02020503060305020303" pitchFamily="18" charset="0"/>
              </a:rPr>
              <a:t>• Email verification and password reset functionality.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67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1165" y="2743200"/>
            <a:ext cx="610936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rPr dirty="0">
                <a:latin typeface="Book Antiqua" panose="02040602050305030304" pitchFamily="18" charset="0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915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Bell MT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Ayush Deval</dc:creator>
  <cp:keywords/>
  <dc:description>generated using python-pptx</dc:description>
  <cp:lastModifiedBy>Ayush Deval</cp:lastModifiedBy>
  <cp:revision>3</cp:revision>
  <dcterms:created xsi:type="dcterms:W3CDTF">2013-01-27T09:14:16Z</dcterms:created>
  <dcterms:modified xsi:type="dcterms:W3CDTF">2026-04-13T07:26:35Z</dcterms:modified>
  <cp:category/>
</cp:coreProperties>
</file>